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13232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31D6C4"/>
                </a:solidFill>
                <a:latin typeface="Aptos"/>
              </a:defRPr>
            </a:pPr>
            <a:r>
              <a:t>GUIA VISUAL DE ESTUDO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768096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4200" b="1">
                <a:solidFill>
                  <a:srgbClr val="F2F6FA"/>
                </a:solidFill>
                <a:latin typeface="Aptos"/>
              </a:defRPr>
            </a:pPr>
            <a:r>
              <a:t>F1 por Dentro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6766560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500" b="0">
                <a:solidFill>
                  <a:srgbClr val="ACBBCA"/>
                </a:solidFill>
                <a:latin typeface="Aptos"/>
              </a:defRPr>
            </a:pPr>
            <a:r>
              <a:t>Regras, pneus, engenharia e</a:t>
            </a:r>
            <a:br/>
            <a:r>
              <a:t>telemetria de voltas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86200"/>
            <a:ext cx="6035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0">
                <a:solidFill>
                  <a:srgbClr val="F2F6FA"/>
                </a:solidFill>
                <a:latin typeface="Aptos"/>
              </a:defRPr>
            </a:pPr>
            <a:r>
              <a:t>Aprender a ler a corrida para além do cronômetro.</a:t>
            </a:r>
          </a:p>
        </p:txBody>
      </p:sp>
      <p:sp>
        <p:nvSpPr>
          <p:cNvPr id="8" name="Oval 7"/>
          <p:cNvSpPr/>
          <p:nvPr/>
        </p:nvSpPr>
        <p:spPr>
          <a:xfrm>
            <a:off x="8595360" y="1325880"/>
            <a:ext cx="2286000" cy="2286000"/>
          </a:xfrm>
          <a:prstGeom prst="ellipse">
            <a:avLst/>
          </a:prstGeom>
          <a:noFill/>
          <a:ln w="38100">
            <a:solidFill>
              <a:srgbClr val="EB3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51392" y="1527048"/>
            <a:ext cx="2057400" cy="2057400"/>
          </a:xfrm>
          <a:prstGeom prst="ellipse">
            <a:avLst/>
          </a:prstGeom>
          <a:noFill/>
          <a:ln w="38100">
            <a:solidFill>
              <a:srgbClr val="3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07424" y="1728216"/>
            <a:ext cx="1828800" cy="1828800"/>
          </a:xfrm>
          <a:prstGeom prst="ellipse">
            <a:avLst/>
          </a:prstGeom>
          <a:noFill/>
          <a:ln w="38100">
            <a:solidFill>
              <a:srgbClr val="55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7863840" y="4498848"/>
            <a:ext cx="502920" cy="210312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66760" y="4498848"/>
            <a:ext cx="365760" cy="128016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732520" y="4370832"/>
            <a:ext cx="594360" cy="256032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326880" y="4370832"/>
            <a:ext cx="457200" cy="164592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784080" y="4270248"/>
            <a:ext cx="594360" cy="265176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378440" y="4270248"/>
            <a:ext cx="960120" cy="173736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863840" y="4956048"/>
            <a:ext cx="502920" cy="210312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366760" y="4956048"/>
            <a:ext cx="365760" cy="128016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732520" y="4828032"/>
            <a:ext cx="594360" cy="256032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26880" y="4828032"/>
            <a:ext cx="457200" cy="164592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784080" y="4727448"/>
            <a:ext cx="594360" cy="265176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378440" y="4727448"/>
            <a:ext cx="960120" cy="173736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863840" y="5413248"/>
            <a:ext cx="502920" cy="210312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66760" y="5413248"/>
            <a:ext cx="365760" cy="128016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732520" y="5285232"/>
            <a:ext cx="594360" cy="256032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26880" y="5285232"/>
            <a:ext cx="457200" cy="164592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784080" y="5184648"/>
            <a:ext cx="594360" cy="265176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378440" y="5184648"/>
            <a:ext cx="960120" cy="173736"/>
          </a:xfrm>
          <a:prstGeom prst="line">
            <a:avLst/>
          </a:prstGeom>
          <a:ln w="25400">
            <a:solidFill>
              <a:srgbClr val="559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6080760"/>
            <a:ext cx="6400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CBBCA"/>
                </a:solidFill>
                <a:latin typeface="Aptos"/>
              </a:defRPr>
            </a:pPr>
            <a:r>
              <a:t>Material complementar ao notebook de estudo. Fontes no README.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01 / MAPA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Quatro áreas que se conectam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A meta não é decorar termos: é relacionar regras, decisões e desempenho.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5303520" cy="141732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50292" cy="1197864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EB3849"/>
                </a:solidFill>
                <a:latin typeface="Aptos"/>
              </a:defRPr>
            </a:pPr>
            <a:r>
              <a:t>01  REGULAMENTO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491947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O que é permitido, obrigatório ou penalizado durante o fim de semana.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40"/>
            <a:ext cx="5303520" cy="141732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258568"/>
            <a:ext cx="50292" cy="1197864"/>
          </a:xfrm>
          <a:prstGeom prst="rect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32257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FCA47"/>
                </a:solidFill>
                <a:latin typeface="Aptos"/>
              </a:defRPr>
            </a:pPr>
            <a:r>
              <a:t>02  PNEUS &amp; ESTRATÉGIA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770632"/>
            <a:ext cx="491947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Aderência, temperatura, desgaste, compostos e momento de parar.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303520" cy="141732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995928"/>
            <a:ext cx="50292" cy="1197864"/>
          </a:xfrm>
          <a:prstGeom prst="rect">
            <a:avLst/>
          </a:prstGeom>
          <a:solidFill>
            <a:srgbClr val="55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5993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559DFF"/>
                </a:solidFill>
                <a:latin typeface="Aptos"/>
              </a:defRPr>
            </a:pPr>
            <a:r>
              <a:t>03  ENGENHARIA DO CARRO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507992"/>
            <a:ext cx="491947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Aerodinâmica, freios, suspensão e unidade de potência.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86200"/>
            <a:ext cx="5303520" cy="141732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95928"/>
            <a:ext cx="50292" cy="1197864"/>
          </a:xfrm>
          <a:prstGeom prst="rect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405993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31D6C4"/>
                </a:solidFill>
                <a:latin typeface="Aptos"/>
              </a:defRPr>
            </a:pPr>
            <a:r>
              <a:t>04  TELEMETRIA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507992"/>
            <a:ext cx="491947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Usar gráficos e dados de voltas para investigar onde se ganha ou perde tempo.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F1 por Dentro  •  Material complementar de estudo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02 / MÉTODO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Nem todas as fontes servem para a mesma coisa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Escolher a fonte certa reduz o risco de aprender uma regra antiga como se fosse atual.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50292" cy="1929384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B3849"/>
                </a:solidFill>
                <a:latin typeface="Aptos"/>
              </a:defRPr>
            </a:pPr>
            <a:r>
              <a:t>FONTE PRIMÁRIA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FIA: regulamentos esportivos e técnicos.</a:t>
            </a:r>
            <a:br/>
            <a:br/>
            <a:r>
              <a:t>Use para confirmar a regra vigente.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58568"/>
            <a:ext cx="50292" cy="1929384"/>
          </a:xfrm>
          <a:prstGeom prst="rect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FCA47"/>
                </a:solidFill>
                <a:latin typeface="Aptos"/>
              </a:defRPr>
            </a:pPr>
            <a:r>
              <a:t>EXPLICAÇÃO OFICIAL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063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Formula 1 e Pirelli: guias, glossários e características dos pneus.</a:t>
            </a:r>
            <a:br/>
            <a:br/>
            <a:r>
              <a:t>Use para entender os conceitos.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258568"/>
            <a:ext cx="50292" cy="1929384"/>
          </a:xfrm>
          <a:prstGeom prst="rect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1D6C4"/>
                </a:solidFill>
                <a:latin typeface="Aptos"/>
              </a:defRPr>
            </a:pPr>
            <a:r>
              <a:t>FERRAMENTAS &amp; ANÁLISES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7063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OpenF1, FastF1 e exploradores de telemetria.</a:t>
            </a:r>
            <a:br/>
            <a:br/>
            <a:r>
              <a:t>Use para entender campos, gráficos e dados disponíveis.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00600"/>
            <a:ext cx="10789920" cy="6400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2F6FA"/>
                </a:solidFill>
                <a:latin typeface="Aptos"/>
              </a:defRPr>
            </a:pPr>
            <a:r>
              <a:t>Regra de ouro: abra a citação e confira se a fonte realmente sustenta a resposta. Uma resposta citada ainda pode estar errada.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Fontes: FIA • Formula 1 • Pirelli • OpenF1 • FastF1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03 / REGULAMENTO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A nova geração de carros muda a forma de pensar a volta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Resumo introdutório; conferir detalhes e revisões nos documentos oficiais da FIA.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23774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50292" cy="2157984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EB3849"/>
                </a:solidFill>
                <a:latin typeface="Aptos"/>
              </a:defRPr>
            </a:pPr>
            <a:r>
              <a:t>UNIDADE DE POTÊNCIA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3136392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O V6 turbo de 1,6 L permanece.</a:t>
            </a:r>
            <a:br/>
            <a:br/>
            <a:r>
              <a:t>O MGU-H foi removido e a parte elétrica ganha peso maior na entrega e recuperação de energia.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3774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58568"/>
            <a:ext cx="50292" cy="2157984"/>
          </a:xfrm>
          <a:prstGeom prst="rect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1D6C4"/>
                </a:solidFill>
                <a:latin typeface="Aptos"/>
              </a:defRPr>
            </a:pPr>
            <a:r>
              <a:t>AERODINÂMICA ATIVA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0632"/>
            <a:ext cx="3136392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As asas dianteira e traseira podem mudar de configuração.</a:t>
            </a:r>
            <a:br/>
            <a:br/>
            <a:r>
              <a:t>Modo de reta reduz arrasto; modo de curva prioriza downforce.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520440" cy="23774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258568"/>
            <a:ext cx="50292" cy="2157984"/>
          </a:xfrm>
          <a:prstGeom prst="rect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2257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CA47"/>
                </a:solidFill>
                <a:latin typeface="Aptos"/>
              </a:defRPr>
            </a:pPr>
            <a:r>
              <a:t>ENERGIA &amp; ULTRAPASSAGEM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70632"/>
            <a:ext cx="3136392" cy="1627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A gestão da energia elétrica importa durante a volta.</a:t>
            </a:r>
            <a:br/>
            <a:br/>
            <a:r>
              <a:t>Boost, Recharge e Overtake Mode têm funções distintas.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7899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Não confunda uma explicação simplificada com a redação jurídica: procedimentos e condições exatos devem ser conferidos na versão vigente do regulamento.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Fontes: FIA — https://www.fia.com/regulation/category/110/technical-regulations • Formula 1 2026 • McLaren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04 / PNEUS E ESTRATÉGIA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O composto não explica tudo sozinho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A escolha depende do circuito, da temperatura, do clima, do desgaste e do plano de corrida.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1920240" cy="914400"/>
          </a:xfrm>
          <a:prstGeom prst="roundRect">
            <a:avLst/>
          </a:prstGeom>
          <a:solidFill>
            <a:srgbClr val="151F2F"/>
          </a:solidFill>
          <a:ln w="25400">
            <a:solidFill>
              <a:srgbClr val="55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957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559DFF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8892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2F6FA"/>
                </a:solidFill>
                <a:latin typeface="Aptos"/>
              </a:defRPr>
            </a:pPr>
            <a:r>
              <a:t>mais duro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2286000"/>
            <a:ext cx="1920240" cy="914400"/>
          </a:xfrm>
          <a:prstGeom prst="roundRect">
            <a:avLst/>
          </a:prstGeom>
          <a:solidFill>
            <a:srgbClr val="151F2F"/>
          </a:solidFill>
          <a:ln w="25400">
            <a:solidFill>
              <a:srgbClr val="31D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23957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31D6C4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78892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2F6FA"/>
                </a:solidFill>
                <a:latin typeface="Aptos"/>
              </a:defRPr>
            </a:pPr>
            <a:r>
              <a:t>duro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48656" y="2286000"/>
            <a:ext cx="1920240" cy="914400"/>
          </a:xfrm>
          <a:prstGeom prst="roundRect">
            <a:avLst/>
          </a:prstGeom>
          <a:solidFill>
            <a:srgbClr val="151F2F"/>
          </a:solidFill>
          <a:ln w="25400">
            <a:solidFill>
              <a:srgbClr val="F2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0096" y="23957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F2F6FA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78892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2F6FA"/>
                </a:solidFill>
                <a:latin typeface="Aptos"/>
              </a:defRPr>
            </a:pPr>
            <a:r>
              <a:t>intermediário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6367" y="2286000"/>
            <a:ext cx="1920240" cy="914400"/>
          </a:xfrm>
          <a:prstGeom prst="roundRect">
            <a:avLst/>
          </a:prstGeom>
          <a:solidFill>
            <a:srgbClr val="151F2F"/>
          </a:solidFill>
          <a:ln w="25400">
            <a:solidFill>
              <a:srgbClr val="FFC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23957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FFCA47"/>
                </a:solidFill>
                <a:latin typeface="Aptos"/>
              </a:defRPr>
            </a:pPr>
            <a: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278892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2F6FA"/>
                </a:solidFill>
                <a:latin typeface="Aptos"/>
              </a:defRPr>
            </a:pPr>
            <a:r>
              <a:t>macio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286000"/>
            <a:ext cx="1920240" cy="914400"/>
          </a:xfrm>
          <a:prstGeom prst="roundRect">
            <a:avLst/>
          </a:prstGeom>
          <a:solidFill>
            <a:srgbClr val="151F2F"/>
          </a:solidFill>
          <a:ln w="25400">
            <a:solidFill>
              <a:srgbClr val="EB38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19" y="2395728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2200" b="1">
                <a:solidFill>
                  <a:srgbClr val="EB3849"/>
                </a:solidFill>
                <a:latin typeface="Aptos"/>
              </a:defRPr>
            </a:pPr>
            <a: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788920"/>
            <a:ext cx="173736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2F6FA"/>
                </a:solidFill>
                <a:latin typeface="Aptos"/>
              </a:defRPr>
            </a:pPr>
            <a:r>
              <a:t>mais macio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57600"/>
            <a:ext cx="5303520" cy="132588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3232" y="3767328"/>
            <a:ext cx="50292" cy="1106424"/>
          </a:xfrm>
          <a:prstGeom prst="rect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3133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FCA47"/>
                </a:solidFill>
                <a:latin typeface="Aptos"/>
              </a:defRPr>
            </a:pPr>
            <a:r>
              <a:t>PISTA SECA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279392"/>
            <a:ext cx="4919472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2F6FA"/>
                </a:solidFill>
                <a:latin typeface="Aptos"/>
              </a:defRPr>
            </a:pPr>
            <a:r>
              <a:t>Slicks: a alocação de compostos varia conforme o evento. “Duro, médio e macio” são relativos às opções escolhidas para aquela corrida.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657600"/>
            <a:ext cx="5303520" cy="132588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67328"/>
            <a:ext cx="50292" cy="1106424"/>
          </a:xfrm>
          <a:prstGeom prst="rect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831336"/>
            <a:ext cx="4937759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31D6C4"/>
                </a:solidFill>
                <a:latin typeface="Aptos"/>
              </a:defRPr>
            </a:pPr>
            <a:r>
              <a:t>PISTA MOLHADA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279392"/>
            <a:ext cx="4919472" cy="5760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2F6FA"/>
                </a:solidFill>
                <a:latin typeface="Aptos"/>
              </a:defRPr>
            </a:pPr>
            <a:r>
              <a:t>Intermediários e pneus de chuva completa têm desenho e finalidade diferentes dos slicks.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5156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Desgaste = material perdido; degradação = perda de desempenho. Os dois podem ocorrer juntos, mas não são sinônimos perfeitos.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Fontes: Pirelli — https://www.pirelli.com/tyres/pt-br/motorsport/carro/formula-1 • Formula 1 — Guia de pneus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05 / TELEMETRIA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O que um gráfico de volta pode mostrar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Dados públicos e visualizações ajudam a comparar voltas, mas não equivalem a toda a telemetria proprietária de uma equipe.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3840480" cy="3429000"/>
          </a:xfrm>
          <a:prstGeom prst="rect">
            <a:avLst/>
          </a:prstGeom>
          <a:noFill/>
        </p:spPr>
        <p:txBody>
          <a:bodyPr wrap="square" lIns="54864" rIns="54864" tIns="36576" bIns="18288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31D6C4"/>
                </a:solidFill>
                <a:latin typeface="Aptos"/>
              </a:defRPr>
            </a:pPr>
            <a:r>
              <a:t>SINAIS FREQUENTES</a:t>
            </a:r>
          </a:p>
          <a:p>
            <a:pPr>
              <a:spcAft>
                <a:spcPts val="1100"/>
              </a:spcAft>
              <a:defRPr sz="1600" b="0">
                <a:solidFill>
                  <a:srgbClr val="F2F6FA"/>
                </a:solidFill>
                <a:latin typeface="Aptos"/>
              </a:defRPr>
            </a:pPr>
            <a:r>
              <a:t>• Velocidade</a:t>
            </a:r>
          </a:p>
          <a:p>
            <a:pPr>
              <a:spcAft>
                <a:spcPts val="1100"/>
              </a:spcAft>
              <a:defRPr sz="1600" b="0">
                <a:solidFill>
                  <a:srgbClr val="F2F6FA"/>
                </a:solidFill>
                <a:latin typeface="Aptos"/>
              </a:defRPr>
            </a:pPr>
            <a:r>
              <a:t>• Acelerador e freio</a:t>
            </a:r>
          </a:p>
          <a:p>
            <a:pPr>
              <a:spcAft>
                <a:spcPts val="1100"/>
              </a:spcAft>
              <a:defRPr sz="1600" b="0">
                <a:solidFill>
                  <a:srgbClr val="F2F6FA"/>
                </a:solidFill>
                <a:latin typeface="Aptos"/>
              </a:defRPr>
            </a:pPr>
            <a:r>
              <a:t>• Marcha e RPM</a:t>
            </a:r>
          </a:p>
          <a:p>
            <a:pPr>
              <a:spcAft>
                <a:spcPts val="1100"/>
              </a:spcAft>
              <a:defRPr sz="1600" b="0">
                <a:solidFill>
                  <a:srgbClr val="F2F6FA"/>
                </a:solidFill>
                <a:latin typeface="Aptos"/>
              </a:defRPr>
            </a:pPr>
            <a:r>
              <a:t>• Tempo de volta e setores</a:t>
            </a:r>
          </a:p>
          <a:p>
            <a:pPr>
              <a:spcAft>
                <a:spcPts val="1100"/>
              </a:spcAft>
              <a:defRPr sz="1600" b="0">
                <a:solidFill>
                  <a:srgbClr val="F2F6FA"/>
                </a:solidFill>
                <a:latin typeface="Aptos"/>
              </a:defRPr>
            </a:pPr>
            <a:r>
              <a:t>• Posição na pista / distância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240280"/>
            <a:ext cx="6309360" cy="2834640"/>
          </a:xfrm>
          <a:prstGeom prst="roundRect">
            <a:avLst/>
          </a:prstGeom>
          <a:solidFill>
            <a:srgbClr val="151F2F"/>
          </a:solidFill>
          <a:ln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2404872"/>
            <a:ext cx="58978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ACBBCA"/>
                </a:solidFill>
                <a:latin typeface="Aptos"/>
              </a:defRPr>
            </a:pPr>
            <a:r>
              <a:t>ESQUEMA DIDÁTICO — NÃO SÃO DADOS REAIS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32120" y="4572000"/>
            <a:ext cx="5532120" cy="0"/>
          </a:xfrm>
          <a:prstGeom prst="line">
            <a:avLst/>
          </a:prstGeom>
          <a:ln w="12700">
            <a:solidFill>
              <a:srgbClr val="ACB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532120" y="2834640"/>
            <a:ext cx="0" cy="1737360"/>
          </a:xfrm>
          <a:prstGeom prst="line">
            <a:avLst/>
          </a:prstGeom>
          <a:ln w="12700">
            <a:solidFill>
              <a:srgbClr val="ACB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41264" y="3291840"/>
            <a:ext cx="5522976" cy="0"/>
          </a:xfrm>
          <a:prstGeom prst="line">
            <a:avLst/>
          </a:prstGeom>
          <a:ln w="10160">
            <a:solidFill>
              <a:srgbClr val="1B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541264" y="3703320"/>
            <a:ext cx="5522976" cy="0"/>
          </a:xfrm>
          <a:prstGeom prst="line">
            <a:avLst/>
          </a:prstGeom>
          <a:ln w="10160">
            <a:solidFill>
              <a:srgbClr val="1B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41264" y="4114800"/>
            <a:ext cx="5522976" cy="0"/>
          </a:xfrm>
          <a:prstGeom prst="line">
            <a:avLst/>
          </a:prstGeom>
          <a:ln w="10160">
            <a:solidFill>
              <a:srgbClr val="1B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669280" y="3794760"/>
            <a:ext cx="640080" cy="502920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309360" y="3154680"/>
            <a:ext cx="640080" cy="640080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949440" y="3154680"/>
            <a:ext cx="640080" cy="502920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3657600"/>
            <a:ext cx="457200" cy="320039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046720" y="3154680"/>
            <a:ext cx="822960" cy="822959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69680" y="3154680"/>
            <a:ext cx="777240" cy="137160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646920" y="3291840"/>
            <a:ext cx="1188720" cy="548640"/>
          </a:xfrm>
          <a:prstGeom prst="line">
            <a:avLst/>
          </a:prstGeom>
          <a:ln w="25400">
            <a:solidFill>
              <a:srgbClr val="31D6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669280" y="3886200"/>
            <a:ext cx="640080" cy="50292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309360" y="3337560"/>
            <a:ext cx="640080" cy="54864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49440" y="3337560"/>
            <a:ext cx="640080" cy="45720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89520" y="3794760"/>
            <a:ext cx="457200" cy="27432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046720" y="3383280"/>
            <a:ext cx="822960" cy="68580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69680" y="3383280"/>
            <a:ext cx="777240" cy="9144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646920" y="3474720"/>
            <a:ext cx="1188720" cy="548640"/>
          </a:xfrm>
          <a:prstGeom prst="line">
            <a:avLst/>
          </a:prstGeom>
          <a:ln w="25400">
            <a:solidFill>
              <a:srgbClr val="EB38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5486400"/>
            <a:ext cx="106070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Uma diferença na velocidade pode estar ligada à frenagem, ao traçado, ao tráfego, aos pneus ou à energia disponível. O gráfico sugere hipóteses; não prova sozinho a causa.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Fontes: https://openf1.org/docs/ • https://docs.fastf1.dev/ • https://formalytx.com/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06 / COMPARAÇÃO DE VOLTAS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Um método simples para comparar dois pilotos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Escolha voltas comparáveis e leia vários sinais em conjunto.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039112"/>
            <a:ext cx="438912" cy="438912"/>
          </a:xfrm>
          <a:prstGeom prst="ellipse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438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0C121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020824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EB3849"/>
                </a:solidFill>
                <a:latin typeface="Aptos"/>
              </a:defRPr>
            </a:pPr>
            <a:r>
              <a:t>MESMA SESSÃO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002536"/>
            <a:ext cx="7223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2F6FA"/>
                </a:solidFill>
                <a:latin typeface="Aptos"/>
              </a:defRPr>
            </a:pPr>
            <a:r>
              <a:t>Preferir mesma sessão, pista e condições semelhantes.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798064"/>
            <a:ext cx="438912" cy="438912"/>
          </a:xfrm>
          <a:prstGeom prst="ellipse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438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0C121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9776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D6C4"/>
                </a:solidFill>
                <a:latin typeface="Aptos"/>
              </a:defRPr>
            </a:pPr>
            <a:r>
              <a:t>ESCOLHA AS VOLTAS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761488"/>
            <a:ext cx="7223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2F6FA"/>
                </a:solidFill>
                <a:latin typeface="Aptos"/>
              </a:defRPr>
            </a:pPr>
            <a:r>
              <a:t>Observe pneus, tráfego, volta limpa ou comprometida e contexto.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557015"/>
            <a:ext cx="438912" cy="438912"/>
          </a:xfrm>
          <a:prstGeom prst="ellipse">
            <a:avLst/>
          </a:prstGeom>
          <a:solidFill>
            <a:srgbClr val="55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611879"/>
            <a:ext cx="438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0C121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538727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559DFF"/>
                </a:solidFill>
                <a:latin typeface="Aptos"/>
              </a:defRPr>
            </a:pPr>
            <a:r>
              <a:t>SOBREPONHA OS GRÁFICOS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520439"/>
            <a:ext cx="7223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2F6FA"/>
                </a:solidFill>
                <a:latin typeface="Aptos"/>
              </a:defRPr>
            </a:pPr>
            <a:r>
              <a:t>Compare velocidade, freio, acelerador, marcha e setores.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315968"/>
            <a:ext cx="438912" cy="438912"/>
          </a:xfrm>
          <a:prstGeom prst="ellipse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70831"/>
            <a:ext cx="438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0C121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29768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CA47"/>
                </a:solidFill>
                <a:latin typeface="Aptos"/>
              </a:defRPr>
            </a:pPr>
            <a:r>
              <a:t>FORMULE UMA HIPÓTESE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4279392"/>
            <a:ext cx="7223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2F6FA"/>
                </a:solidFill>
                <a:latin typeface="Aptos"/>
              </a:defRPr>
            </a:pPr>
            <a:r>
              <a:t>Identifique onde a diferença começa e investigue possíveis causas.</a:t>
            </a:r>
          </a:p>
        </p:txBody>
      </p:sp>
      <p:sp>
        <p:nvSpPr>
          <p:cNvPr id="24" name="Oval 23"/>
          <p:cNvSpPr/>
          <p:nvPr/>
        </p:nvSpPr>
        <p:spPr>
          <a:xfrm>
            <a:off x="777240" y="5074920"/>
            <a:ext cx="438912" cy="438912"/>
          </a:xfrm>
          <a:prstGeom prst="ellipse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129783"/>
            <a:ext cx="43891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0C121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56632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EB3849"/>
                </a:solidFill>
                <a:latin typeface="Aptos"/>
              </a:defRPr>
            </a:pPr>
            <a:r>
              <a:t>CONFIRA O CONTEXTO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5038344"/>
            <a:ext cx="722376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0">
                <a:solidFill>
                  <a:srgbClr val="F2F6FA"/>
                </a:solidFill>
                <a:latin typeface="Aptos"/>
              </a:defRPr>
            </a:pPr>
            <a:r>
              <a:t>Não atribua toda diferença ao talento do piloto ou ao carro sem evidência.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053328"/>
            <a:ext cx="106984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ACBBCA"/>
                </a:solidFill>
                <a:latin typeface="Aptos"/>
              </a:defRPr>
            </a:pPr>
            <a:r>
              <a:t>Boas comparações começam por dados equivalentes e terminam com uma conclusão proporcional às evidências.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F1 por Dentro  •  Material complementar de estudo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07 / MÉTODO DE ESTUDO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Transformar respostas em conhecimento verificável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O valor do segundo cérebro está na rastreabilidade, não na quantidade de fontes.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304288"/>
            <a:ext cx="50292" cy="1929384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6829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EB3849"/>
                </a:solidFill>
                <a:latin typeface="Aptos"/>
              </a:defRPr>
            </a:pPr>
            <a:r>
              <a:t>PERGUNTE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Faça uma pergunta específica: “O que muda entre uma volta com e sem tráfego?”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9456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304288"/>
            <a:ext cx="50292" cy="1929384"/>
          </a:xfrm>
          <a:prstGeom prst="rect">
            <a:avLst/>
          </a:prstGeom>
          <a:solidFill>
            <a:srgbClr val="31D6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6829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31D6C4"/>
                </a:solidFill>
                <a:latin typeface="Aptos"/>
              </a:defRPr>
            </a:pPr>
            <a:r>
              <a:t>CONFIRA A CITAÇÃO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81635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Clique na citação, leia o trecho original e confira se a resposta representa a fonte com precisão.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94560"/>
            <a:ext cx="3520440" cy="2148840"/>
          </a:xfrm>
          <a:prstGeom prst="roundRect">
            <a:avLst/>
          </a:prstGeom>
          <a:solidFill>
            <a:srgbClr val="151F2F"/>
          </a:solidFill>
          <a:ln w="12700">
            <a:solidFill>
              <a:srgbClr val="1B2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304288"/>
            <a:ext cx="50292" cy="1929384"/>
          </a:xfrm>
          <a:prstGeom prst="rect">
            <a:avLst/>
          </a:prstGeom>
          <a:solidFill>
            <a:srgbClr val="FFC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368296"/>
            <a:ext cx="31546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FFCA47"/>
                </a:solidFill>
                <a:latin typeface="Aptos"/>
              </a:defRPr>
            </a:pPr>
            <a:r>
              <a:t>REGISTRE A EVIDÊNCIA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816352"/>
            <a:ext cx="313639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2F6FA"/>
                </a:solidFill>
                <a:latin typeface="Aptos"/>
              </a:defRPr>
            </a:pPr>
            <a:r>
              <a:t>Salve a pergunta, a síntese da resposta, o link da fonte e uma captura legível.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92040"/>
            <a:ext cx="1060704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2F6FA"/>
                </a:solidFill>
                <a:latin typeface="Aptos"/>
              </a:defRPr>
            </a:pPr>
            <a:r>
              <a:t>Se a fonte não sustentar a resposta, corrija a documentação ou procure outra fonte. Não registre uma conclusão que a evidência não demonstra.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Notebook: Gemini Notebook • Repositório de documentação: GitHub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31D6C4"/>
                </a:solidFill>
                <a:latin typeface="Aptos"/>
              </a:defRPr>
            </a:pPr>
            <a:r>
              <a:t>08 / REFERÊNCIAS E TRANSPARÊNCIA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2800" b="1">
                <a:solidFill>
                  <a:srgbClr val="F2F6FA"/>
                </a:solidFill>
                <a:latin typeface="Aptos"/>
              </a:defRPr>
            </a:pPr>
            <a:r>
              <a:t>Fontes para continuar estudando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8813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CBBCA"/>
                </a:solidFill>
                <a:latin typeface="Aptos"/>
              </a:defRPr>
            </a:pPr>
            <a:r>
              <a:t>Priorize fontes oficiais para regras; use explicações e ferramentas como complementos.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810512"/>
            <a:ext cx="1051560" cy="41148"/>
          </a:xfrm>
          <a:prstGeom prst="rect">
            <a:avLst/>
          </a:prstGeom>
          <a:solidFill>
            <a:srgbClr val="EB3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defRPr sz="900" b="1">
                <a:solidFill>
                  <a:srgbClr val="ACBBC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D6C4"/>
                </a:solidFill>
                <a:latin typeface="Aptos"/>
              </a:defRPr>
            </a:pPr>
            <a:r>
              <a:t>FIA — Regulamentos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95727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https://www.fia.com/regulation/category/110/technical-regulations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CA47"/>
                </a:solidFill>
                <a:latin typeface="Aptos"/>
              </a:defRPr>
            </a:pPr>
            <a:r>
              <a:t>Formula 1 — Regulamentos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7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https://www.formula1.com/en/page/2026-f1-regulations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D6C4"/>
                </a:solidFill>
                <a:latin typeface="Aptos"/>
              </a:defRPr>
            </a:pPr>
            <a:r>
              <a:t>Pirelli —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7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https://www.pirelli.com/tyres/pt-br/motorsport/carro/formula-1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175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CA47"/>
                </a:solidFill>
                <a:latin typeface="Aptos"/>
              </a:defRPr>
            </a:pPr>
            <a:r>
              <a:t>F1 Glossary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10127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https://www.formula1.com/en/page/f1-glossary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319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D6C4"/>
                </a:solidFill>
                <a:latin typeface="Aptos"/>
              </a:defRPr>
            </a:pPr>
            <a:r>
              <a:t>OpenF1 — Documentação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24528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https://openf1.org/docs/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319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FFCA47"/>
                </a:solidFill>
                <a:latin typeface="Aptos"/>
              </a:defRPr>
            </a:pPr>
            <a:r>
              <a:t>FastF1 — Documentação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24528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https://docs.fastf1.dev/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846320"/>
            <a:ext cx="521208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31D6C4"/>
                </a:solidFill>
                <a:latin typeface="Aptos"/>
              </a:defRPr>
            </a:pPr>
            <a:r>
              <a:t>Formalytx — Telemetria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525780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900" b="0">
                <a:solidFill>
                  <a:srgbClr val="F2F6FA"/>
                </a:solidFill>
                <a:latin typeface="Aptos"/>
              </a:defRPr>
            </a:pPr>
            <a:r>
              <a:t>https://formalytx.com/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78992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ACBBCA"/>
                </a:solidFill>
                <a:latin typeface="Aptos"/>
              </a:defRPr>
            </a:pPr>
            <a:r>
              <a:t>Este PDF é uma apresentação complementar criada para organizar os estudos do projeto. Não deve ser descrito como material gerado pelo Gemini Notebook.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47395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ACBBCA"/>
                </a:solidFill>
                <a:latin typeface="Aptos"/>
              </a:defRPr>
            </a:pPr>
            <a:r>
              <a:t>F1 por Dentro • Links consultados em outubro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